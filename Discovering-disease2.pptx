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7680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97192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6132658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611383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28170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72320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0309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452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0476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159C4D-23A7-559A-9348-A001AFC682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DC69FA-41BC-5080-1825-1029B9ABA8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D0992F-7ED1-D55E-4696-D8FA00BBB9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1B9EE4-3EA1-E323-FEAE-C850B90403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0B4F34-73D3-B8EA-3B1F-060C2C9EE9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8286CD-4663-B623-F98E-4B7804D7E8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0E7EFB-4399-D918-4259-9FE8AF6B36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119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505210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434173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93871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05600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6036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30903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0012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51406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49175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09686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77146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22340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73664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91132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7551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77839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02727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41413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82636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59182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26088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20339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89033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27426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623026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72864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747958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7496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6896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46864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2653206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612645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1857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80054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8557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92180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42397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10873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734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70379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26623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18793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964084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302155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59980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045512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11856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7810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71294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63415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187101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19140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7604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146833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94182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66450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96797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67631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40741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57813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348941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34915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33039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Discovering-disease</a:t>
            </a:r>
            <a:endParaRPr lang="en-US"/>
          </a:p>
        </p:txBody>
      </p:sp>
      <p:sp>
        <p:nvSpPr>
          <p:cNvPr id="343483241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US" sz="2600"/>
              <a:t>Ali Faraj</a:t>
            </a:r>
            <a:endParaRPr sz="8000"/>
          </a:p>
          <a:p>
            <a:pPr>
              <a:defRPr/>
            </a:pPr>
            <a:r>
              <a:rPr lang="en-US" sz="2600"/>
              <a:t>Anil Tarachandani</a:t>
            </a:r>
            <a:endParaRPr sz="8000"/>
          </a:p>
          <a:p>
            <a:pPr>
              <a:defRPr/>
            </a:pPr>
            <a:r>
              <a:rPr lang="en-US" sz="2600"/>
              <a:t>Alexander Fassio</a:t>
            </a:r>
            <a:endParaRPr sz="8000"/>
          </a:p>
          <a:p>
            <a:pPr>
              <a:defRPr/>
            </a:pPr>
            <a:r>
              <a:rPr lang="en-US" sz="2600"/>
              <a:t>Matt Margolis</a:t>
            </a:r>
            <a:endParaRPr sz="8000"/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Paul Maschhoff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0916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Goal</a:t>
            </a:r>
            <a:endParaRPr/>
          </a:p>
        </p:txBody>
      </p:sp>
      <p:sp>
        <p:nvSpPr>
          <p:cNvPr id="9606924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Find the cause of diseases by looking at the NHANES database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2118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Method</a:t>
            </a:r>
            <a:endParaRPr/>
          </a:p>
        </p:txBody>
      </p:sp>
      <p:sp>
        <p:nvSpPr>
          <p:cNvPr id="150348982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Exposome × toxicogenomics.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NHANES measures dozens of environmental chemicals in blood and urine, including metals, phthalates, PFAS, pesticides, and VOCs.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Run an exposome-wide association study: for each chemical, regress a health outcome like HbA1c, liver enzymes, or blood pressure on its level, adjusting for age, sex, and other covariates.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 the significant chemicals into the Comparative Toxicogenomics Database (CTD) and pull their known chemical–gene interactions.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Run pathway enrichment on those genes with Reactome or KEGG.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result is a population-level association paired with a candidate biological mechanism, which demos well. (It also parallelizes naturally: thousands of independent regressions fan out easily on Modal)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249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NHANES</a:t>
            </a:r>
            <a:endParaRPr/>
          </a:p>
        </p:txBody>
      </p:sp>
      <p:sp>
        <p:nvSpPr>
          <p:cNvPr id="11071800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Nationally representative — rare for a survey with labs + medications.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Medication use + biomarkers + exposures in the same person — ideal for observational repurposing / pharmacovigilance.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Longitudinal via mortality follow-up — outcomes (death, cause) available with years of follow-up.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Public, stable, well-documented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Standardized weights (WTMEC2YR, WTP2YR, WTMI2YR, …) let you estimate population prevalence.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69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Association between Blood lead and Diabetes</a:t>
            </a:r>
            <a:endParaRPr/>
          </a:p>
        </p:txBody>
      </p:sp>
      <p:sp>
        <p:nvSpPr>
          <p:cNvPr id="13232414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aphicFrame>
        <p:nvGraphicFramePr>
          <p:cNvPr id="1699382756" name=""/>
          <p:cNvGraphicFramePr>
            <a:graphicFrameLocks xmlns:a="http://schemas.openxmlformats.org/drawingml/2006/main"/>
          </p:cNvGraphicFramePr>
          <p:nvPr/>
        </p:nvGraphicFramePr>
        <p:xfrm>
          <a:off x="1500220" y="2819624"/>
          <a:ext cx="8656543" cy="3203536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3010780"/>
                <a:gridCol w="3399460"/>
                <a:gridCol w="1112968"/>
                <a:gridCol w="1133334"/>
              </a:tblGrid>
              <a:tr h="80088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Association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beta range across specs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men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women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88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Blood selenium -&gt; log ALT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+0.042 to +0.049 (p &lt;= 1e-4)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+0.044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+0.038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88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Blood lead -&gt; log GGT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+0.067 to +0.096 (p &lt;= 6e-4)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+0.083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+0.057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800884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Blood lead -&gt; HbA1c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-0.105 to -0.139 (p &lt;= 6e-4)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-0.143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-0.131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8600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Lead and diabetes</a:t>
            </a:r>
            <a:endParaRPr/>
          </a:p>
        </p:txBody>
      </p:sp>
      <p:pic>
        <p:nvPicPr>
          <p:cNvPr id="6032506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20628" y="1576582"/>
            <a:ext cx="7855989" cy="5142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8788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Lead and Diabetes</a:t>
            </a:r>
            <a:endParaRPr/>
          </a:p>
        </p:txBody>
      </p:sp>
      <p:graphicFrame>
        <p:nvGraphicFramePr>
          <p:cNvPr id="195653902" name=""/>
          <p:cNvGraphicFramePr>
            <a:graphicFrameLocks xmlns:a="http://schemas.openxmlformats.org/drawingml/2006/main"/>
          </p:cNvGraphicFramePr>
          <p:nvPr/>
        </p:nvGraphicFramePr>
        <p:xfrm>
          <a:off x="1676624" y="2917676"/>
          <a:ext cx="9252000" cy="2811779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2876631"/>
                <a:gridCol w="1718834"/>
                <a:gridCol w="4656533"/>
              </a:tblGrid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Verdict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Lead -&gt; fasting glucose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-0.033 per SD, p=0.0013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glucose does not depend on red-cell lifespan, yet shows the same direction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Lead -&gt; fasting insulin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-0.074 per SD, p=0.0011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same direction again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Lead -&gt; HbA1c, adjusting Hgb + MCV + RDW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-0.139 -&gt; -0.140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erythrocyte indices explain none of it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Lead -&gt; haemoglobin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+0.137</a:t>
                      </a: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, p=0.0007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positive, so no anaemia-mediated story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Lead -&gt; HbA1c, + eGFR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-0.139 -&gt; -0.138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kidney function explains none of it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Lead -&gt; HbA1c, + alcohol (matched sample)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-0.134 -&gt; -0.114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alcohol explains </a:t>
                      </a:r>
                      <a:r>
                        <a:rPr sz="1200" b="1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  <a:r>
                        <a:rPr sz="1200" b="0" i="0" u="none">
                          <a:solidFill>
                            <a:srgbClr val="1F2328"/>
                          </a:solidFill>
                          <a:latin typeface="Arial"/>
                          <a:ea typeface="Arial"/>
                          <a:cs typeface="Arial"/>
                        </a:rPr>
                        <a:t> (11% for glucose)</a:t>
                      </a:r>
                      <a:endParaRPr/>
                    </a:p>
                  </a:txBody>
                  <a:tcPr marL="123824" marR="123824" marT="57150" marB="57150" anchor="ctr">
                    <a:lnL w="9524" algn="ctr">
                      <a:solidFill>
                        <a:srgbClr val="D1D9E0"/>
                      </a:solidFill>
                    </a:lnL>
                    <a:lnR w="9524" algn="ctr">
                      <a:solidFill>
                        <a:srgbClr val="D1D9E0"/>
                      </a:solidFill>
                    </a:lnR>
                    <a:lnT w="9524" algn="ctr">
                      <a:solidFill>
                        <a:srgbClr val="D1D9E0"/>
                      </a:solidFill>
                    </a:lnT>
                    <a:lnB w="9524" algn="ctr">
                      <a:solidFill>
                        <a:srgbClr val="D1D9E0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1046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 association is an illusion</a:t>
            </a:r>
            <a:endParaRPr/>
          </a:p>
        </p:txBody>
      </p:sp>
      <p:pic>
        <p:nvPicPr>
          <p:cNvPr id="18991683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70771" y="1796002"/>
            <a:ext cx="9470404" cy="4691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2026-09-22T19:07:52Z</dcterms:modified>
</cp:coreProperties>
</file>